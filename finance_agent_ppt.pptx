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2621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Credit Follow-Up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1993392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Agent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2834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AI Enablement Internship  ·  Task 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321868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BD5E1"/>
                </a:solidFill>
              </a:rPr>
              <a:t>Automating overdue payment follow-ups with tone escalation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A56DB"/>
                </a:solidFill>
              </a:rPr>
              <a:t>PROBLEM STATEMENT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 /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teams waste hours chasing payments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023360" cy="13258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64008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463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Manual follow-ups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1801368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Sending emails one by one for dozens of overdue invoices every week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325880"/>
            <a:ext cx="4023360" cy="13258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325880"/>
            <a:ext cx="64008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463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Inconsistent tone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9472" y="1801368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Different team members write differently — no standard escalation path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4023360" cy="13258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880360"/>
            <a:ext cx="64008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017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No audit trail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" y="3355848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No record of what was sent, when, and to whom — compliance risk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880360"/>
            <a:ext cx="4023360" cy="13258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2880360"/>
            <a:ext cx="64008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3017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Delayed escalation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19472" y="3355848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Overdue accounts slip past 30 days because no one flagged them in time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A56DB"/>
                </a:solidFill>
              </a:rPr>
              <a:t>SOLUTION 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3 /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An AI agent that handles the full follow-up workflow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920240" cy="3200400"/>
          </a:xfrm>
          <a:prstGeom prst="rect">
            <a:avLst/>
          </a:prstGeom>
          <a:solidFill>
            <a:srgbClr val="EB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63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📥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20299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56DB"/>
                </a:solidFill>
              </a:rPr>
              <a:t>Ingests 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2423160"/>
            <a:ext cx="171907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</a:rPr>
              <a:t>Reads invoice CSV/Excel — client name, amount, due date, days overdue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87168" y="1280160"/>
            <a:ext cx="1920240" cy="3200400"/>
          </a:xfrm>
          <a:prstGeom prst="rect">
            <a:avLst/>
          </a:prstGeom>
          <a:solidFill>
            <a:srgbClr val="EB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87168" y="1463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🎚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87168" y="20299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56DB"/>
                </a:solidFill>
              </a:rPr>
              <a:t>Picks the stage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96896" y="2423160"/>
            <a:ext cx="171907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</a:rPr>
              <a:t>Calculates days overdue and routes to Stage 1–4 or flags for legal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08576" y="1280160"/>
            <a:ext cx="1920240" cy="3200400"/>
          </a:xfrm>
          <a:prstGeom prst="rect">
            <a:avLst/>
          </a:prstGeom>
          <a:solidFill>
            <a:srgbClr val="EB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08576" y="1463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✉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08576" y="20299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56DB"/>
                </a:solidFill>
              </a:rPr>
              <a:t>Generates email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18304" y="2423160"/>
            <a:ext cx="171907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</a:rPr>
              <a:t>Claude writes a personalised email with all invoice fields filled in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729984" y="1280160"/>
            <a:ext cx="1920240" cy="3200400"/>
          </a:xfrm>
          <a:prstGeom prst="rect">
            <a:avLst/>
          </a:prstGeom>
          <a:solidFill>
            <a:srgbClr val="EB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9984" y="1463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729984" y="20299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56DB"/>
                </a:solidFill>
              </a:rPr>
              <a:t>Logs everything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39712" y="2423160"/>
            <a:ext cx="171907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</a:rPr>
              <a:t>Full audit trail with masked PII — timestamp, tone, send status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A56DB"/>
                </a:solidFill>
              </a:rPr>
              <a:t>SYSTEM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4 /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Agent flow — from CSV to audit log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078992" cy="8229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14630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</a:rPr>
              <a:t>CSV / Excel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02336" y="181051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invoices.csv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444752" y="1828800"/>
            <a:ext cx="12801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72768" y="1417320"/>
            <a:ext cx="1078992" cy="822960"/>
          </a:xfrm>
          <a:prstGeom prst="rect">
            <a:avLst/>
          </a:prstGeom>
          <a:solidFill>
            <a:srgbClr val="EB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9344" y="14630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56DB"/>
                </a:solidFill>
              </a:rPr>
              <a:t>load_invoices()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609344" y="181051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validate + parse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651760" y="1828800"/>
            <a:ext cx="12801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79776" y="1417320"/>
            <a:ext cx="1078992" cy="822960"/>
          </a:xfrm>
          <a:prstGeom prst="rect">
            <a:avLst/>
          </a:prstGeom>
          <a:solidFill>
            <a:srgbClr val="EB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16352" y="14630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56DB"/>
                </a:solidFill>
              </a:rPr>
              <a:t>get_stage()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816352" y="181051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days overdue → stage 1–5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858768" y="1828800"/>
            <a:ext cx="12801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86784" y="1417320"/>
            <a:ext cx="1078992" cy="822960"/>
          </a:xfrm>
          <a:prstGeom prst="rect">
            <a:avLst/>
          </a:prstGeom>
          <a:solidFill>
            <a:srgbClr val="FEF9E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0" y="14630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97706"/>
                </a:solidFill>
              </a:rPr>
              <a:t>sanitise()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023360" y="181051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injection check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065776" y="1828800"/>
            <a:ext cx="12801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93792" y="1417320"/>
            <a:ext cx="1078992" cy="822960"/>
          </a:xfrm>
          <a:prstGeom prst="rect">
            <a:avLst/>
          </a:prstGeom>
          <a:solidFill>
            <a:srgbClr val="EB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30368" y="14630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56DB"/>
                </a:solidFill>
              </a:rPr>
              <a:t>generate_email()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230368" y="181051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Claude API call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272784" y="1828800"/>
            <a:ext cx="12801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1417320"/>
            <a:ext cx="1078992" cy="82296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37376" y="14630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</a:rPr>
              <a:t>send_email()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37376" y="181051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dry-run / SMTP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479792" y="1828800"/>
            <a:ext cx="12801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07808" y="1417320"/>
            <a:ext cx="1078992" cy="8229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44384" y="14630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</a:rPr>
              <a:t>log_to_audit()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644384" y="181051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JSON + masked PII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414016" y="2743200"/>
            <a:ext cx="1645920" cy="685800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14016" y="2743200"/>
            <a:ext cx="54864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278892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</a:rPr>
              <a:t>Stage 5 — Escalation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514600" y="306324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No email — flagged for legal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962656" y="2240280"/>
            <a:ext cx="0" cy="502920"/>
          </a:xfrm>
          <a:prstGeom prst="line">
            <a:avLst/>
          </a:prstGeom>
          <a:noFill/>
          <a:ln w="12700">
            <a:solidFill>
              <a:srgbClr val="DC2626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2194560" y="24231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C2626"/>
                </a:solidFill>
              </a:rPr>
              <a:t>30+ days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7200" y="3703320"/>
            <a:ext cx="2286000" cy="68580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3749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</a:rPr>
              <a:t>output/ folder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40416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email .txt per invoice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00400" y="3703320"/>
            <a:ext cx="2286000" cy="6858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1840" y="3749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audit_log.json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291840" y="40416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full trail, PII masked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943600" y="3703320"/>
            <a:ext cx="2286000" cy="6858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35040" y="3749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agent.log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035040" y="40416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console + file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7200" y="34747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748B"/>
                </a:solidFill>
              </a:rPr>
              <a:t>Outputs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" y="3456432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A56DB"/>
                </a:solidFill>
              </a:rPr>
              <a:t>TECH STACK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5 /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Tools chosen for simplicity and reliability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229600" cy="34874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Choice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56DB"/>
                          </a:solidFill>
                        </a:rPr>
                        <a:t>LLM</a:t>
                      </a:r>
                      <a:endParaRPr lang="en-US" sz="10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Claude claude-sonnet-4-20250514</a:t>
                      </a:r>
                      <a:endParaRPr lang="en-US" sz="10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Consistent structured output, cheaper than GPT-4o at same quality</a:t>
                      </a:r>
                      <a:endParaRPr lang="en-US" sz="10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56DB"/>
                          </a:solidFill>
                        </a:rPr>
                        <a:t>Agent Framework</a:t>
                      </a:r>
                      <a:endParaRPr lang="en-US" sz="10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None (plain Python)</a:t>
                      </a:r>
                      <a:endParaRPr lang="en-US" sz="10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Task is a pipeline, not an agent loop — no framework needed</a:t>
                      </a:r>
                      <a:endParaRPr lang="en-US" sz="10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56DB"/>
                          </a:solidFill>
                        </a:rPr>
                        <a:t>Data Ingestion</a:t>
                      </a:r>
                      <a:endParaRPr lang="en-US" sz="10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pandas + openpyxl</a:t>
                      </a:r>
                      <a:endParaRPr lang="en-US" sz="10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CSV &amp; Excel support, robust type parsing</a:t>
                      </a:r>
                      <a:endParaRPr lang="en-US" sz="10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56DB"/>
                          </a:solidFill>
                        </a:rPr>
                        <a:t>Email Send</a:t>
                      </a:r>
                      <a:endParaRPr lang="en-US" sz="10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smtplib / dry-run log</a:t>
                      </a:r>
                      <a:endParaRPr lang="en-US" sz="10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Dry-run by default; SMTP config ready for live use</a:t>
                      </a:r>
                      <a:endParaRPr lang="en-US" sz="10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56DB"/>
                          </a:solidFill>
                        </a:rPr>
                        <a:t>Logging</a:t>
                      </a:r>
                      <a:endParaRPr lang="en-US" sz="10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JSON audit + Python logging</a:t>
                      </a:r>
                      <a:endParaRPr lang="en-US" sz="10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Structured audit trail, PII masked in all log entries</a:t>
                      </a:r>
                      <a:endParaRPr lang="en-US" sz="10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56DB"/>
                          </a:solidFill>
                        </a:rPr>
                        <a:t>Security</a:t>
                      </a:r>
                      <a:endParaRPr lang="en-US" sz="10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python-dotenv + sanitise()</a:t>
                      </a:r>
                      <a:endParaRPr lang="en-US" sz="10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Keys in .env, injection check on all CSV fields</a:t>
                      </a:r>
                      <a:endParaRPr lang="en-US" sz="10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56DB"/>
                          </a:solidFill>
                        </a:rPr>
                        <a:t>UI</a:t>
                      </a:r>
                      <a:endParaRPr lang="en-US" sz="10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dashboard.html</a:t>
                      </a:r>
                      <a:endParaRPr lang="en-US" sz="10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Single-file HTML dashboard, no framework needed</a:t>
                      </a:r>
                      <a:endParaRPr lang="en-US" sz="10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A56DB"/>
                </a:solidFill>
              </a:rPr>
              <a:t>AI WORKFLOW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6 /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How the LLM generates each email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931920" cy="36576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984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6DB"/>
                </a:solidFill>
              </a:rPr>
              <a:t>Prompt design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System prompt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9476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Locks Claude to email-only output. Specifies SUBJECT/BODY format. Bans inventing info.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4505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User prompt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70662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Injects all invoice fields with explicit labels — prevents injection &amp; hallucination.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20954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Tone instruction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46557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Tells Claude exactly which stage it is and what CTA to use.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96849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Output parsing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22452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Splits on SUBJECT: / BODY: markers. Falls back gracefully if parsing fails.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17720" y="12984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6DB"/>
                </a:solidFill>
              </a:rPr>
              <a:t>Escalation matrix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17720" y="1691640"/>
            <a:ext cx="4114800" cy="54864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7373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59669"/>
                </a:solidFill>
              </a:rPr>
              <a:t>Stage 1 — Warm &amp; friendly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955280" y="17373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1–7d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17720" y="2331720"/>
            <a:ext cx="4114800" cy="548640"/>
          </a:xfrm>
          <a:prstGeom prst="rect">
            <a:avLst/>
          </a:prstGeom>
          <a:solidFill>
            <a:srgbClr val="EB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3774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56DB"/>
                </a:solidFill>
              </a:rPr>
              <a:t>Stage 2 — Polite but firm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955280" y="23774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8–14d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17720" y="2971800"/>
            <a:ext cx="4114800" cy="548640"/>
          </a:xfrm>
          <a:prstGeom prst="rect">
            <a:avLst/>
          </a:prstGeom>
          <a:solidFill>
            <a:srgbClr val="FEF9E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0175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</a:rPr>
              <a:t>Stage 3 — Formal &amp; serious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955280" y="301752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15–21d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3611880"/>
            <a:ext cx="4114800" cy="548640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6576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</a:rPr>
              <a:t>Stage 4 — Stern &amp; urgent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955280" y="36576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22–30d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17720" y="4251960"/>
            <a:ext cx="4114800" cy="548640"/>
          </a:xfrm>
          <a:prstGeom prst="rect">
            <a:avLst/>
          </a:prstGeom>
          <a:solidFill>
            <a:srgbClr val="F9F9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42976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</a:rPr>
              <a:t>Escalation — legal flag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955280" y="42976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30+d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A56DB"/>
                </a:solidFill>
              </a:rPr>
              <a:t>SECURITY FEATURES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7 /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Security is a graded component — here's what was built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069080" cy="1051560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64008" cy="1051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258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Prompt injection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618488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sanitise() checks all CSV fields for injection patterns before they enter the prompt. Suspicious records are skipped, not processed.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234440"/>
            <a:ext cx="4069080" cy="1051560"/>
          </a:xfrm>
          <a:prstGeom prst="rect">
            <a:avLst/>
          </a:prstGeom>
          <a:solidFill>
            <a:srgbClr val="FEF9E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234440"/>
            <a:ext cx="64008" cy="10515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3258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Data privacy / PII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618488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mask_email() masks contact emails in all logs. Full email addresses never appear in the audit trail. Local processing by default.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4069080" cy="105156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423160"/>
            <a:ext cx="64008" cy="10515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5146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API key exposure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807208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Key in .env only. .env in .gitignore. Never hardcoded. .env.example shows structure with placeholder values.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2423160"/>
            <a:ext cx="4069080" cy="1051560"/>
          </a:xfrm>
          <a:prstGeom prst="rect">
            <a:avLst/>
          </a:prstGeom>
          <a:solidFill>
            <a:srgbClr val="EB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23160"/>
            <a:ext cx="64008" cy="10515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5146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Hallucination risk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2807208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System prompt bans inventing data. All fields passed explicitly in the user prompt. Structured output format enforced.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611880"/>
            <a:ext cx="4069080" cy="10515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611880"/>
            <a:ext cx="64008" cy="10515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7033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Accidental sends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3995928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DRY_RUN=true is the default. Nothing sends unless explicitly flipped to false. Clear log entry for every dry-run action.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3611880"/>
            <a:ext cx="4069080" cy="10515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3611880"/>
            <a:ext cx="64008" cy="10515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7033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Email spoofing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3995928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Use verified sender domain. SPF/DKIM/DMARC setup required before going live. Dry-run mode prevents testing with real emails.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A56DB"/>
                </a:solidFill>
              </a:rPr>
              <a:t>DEMO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8 /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Sample run output — 6 invoices, all stages covered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2926077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Invoice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Company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Amount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Overdue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INV-2024-001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Sharma Enterprises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₹45,000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4d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Stage 1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Email generated (dry-run)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INV-2024-002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Mehta Solutions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₹1,20,000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11d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56DB"/>
                          </a:solidFill>
                        </a:rPr>
                        <a:t>Stage 2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Email generated (dry-run)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INV-2024-003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Verma &amp; Co.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₹78,500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18d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</a:rPr>
                        <a:t>Stage 3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Email generated (dry-run)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INV-2024-004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Rao Technologies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₹2,00,000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27d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Stage 4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Email generated (dry-run)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INV-2024-005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Gupta Imports Ltd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₹55,000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35d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922B21"/>
                          </a:solidFill>
                        </a:rPr>
                        <a:t>⚠ Escalated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Flagged — no email sent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INV-2024-006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Joshi Retail Chain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₹33,000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-3d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Not due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Skipped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297680"/>
            <a:ext cx="246888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33425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56DB"/>
                </a:solidFill>
              </a:rPr>
              <a:t>5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097280" y="4480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emails generated</a:t>
            </a:r>
            <a:endParaRPr lang="en-US" sz="1100" dirty="0"/>
          </a:p>
        </p:txBody>
      </p:sp>
      <p:sp>
        <p:nvSpPr>
          <p:cNvPr id="5" name="Shape 6"/>
          <p:cNvSpPr/>
          <p:nvPr/>
        </p:nvSpPr>
        <p:spPr>
          <a:xfrm>
            <a:off x="3172968" y="4297680"/>
            <a:ext cx="246888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10128" y="433425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C2626"/>
                </a:solidFill>
              </a:rPr>
              <a:t>1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3904488" y="4480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escalation flags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980176" y="4297680"/>
            <a:ext cx="246888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17336" y="433425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4748B"/>
                </a:solidFill>
              </a:rPr>
              <a:t>1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711696" y="4480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skipped (not due)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A56DB"/>
                </a:solidFill>
              </a:rPr>
              <a:t>CHALLENGES &amp; LEARNINGS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9 /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What was harder than expected — and what it taught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640080"/>
          </a:xfrm>
          <a:prstGeom prst="rect">
            <a:avLst/>
          </a:prstGeom>
          <a:solidFill>
            <a:srgbClr val="FFF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64008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26187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D97706"/>
                </a:solidFill>
              </a:rPr>
              <a:t>CHALLENGE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508760" y="12801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LLM output format consistency — Claude sometimes added extra preamble before SUBJECT:. Fixed with a more restrictive system prompt and fallback parsing logic.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640080"/>
          </a:xfrm>
          <a:prstGeom prst="rect">
            <a:avLst/>
          </a:prstGeom>
          <a:solidFill>
            <a:srgbClr val="FFF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920240"/>
            <a:ext cx="64008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9933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DC2626"/>
                </a:solidFill>
              </a:rPr>
              <a:t>CHALLENGE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08760" y="2011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Prompt injection defence — deciding where exactly to sanitise (at ingestion vs at prompt-build time). Settled on prompt-build time so the validation is close to the risk.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651760"/>
            <a:ext cx="8412480" cy="640080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651760"/>
            <a:ext cx="64008" cy="6400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72491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A56DB"/>
                </a:solidFill>
              </a:rPr>
              <a:t>LEARNING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08760" y="27432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No agent framework needed here. LangChain would have added complexity for zero benefit on a linear pipeline. Choosing the right abstraction level matters more than using popular tools.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383280"/>
            <a:ext cx="8412480" cy="640080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383280"/>
            <a:ext cx="64008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45643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59669"/>
                </a:solidFill>
              </a:rPr>
              <a:t>LEARNING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508760" y="34747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Dry-run mode should be the default, not an option. Flipping the default to true prevented multiple accidental email sends during testing.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114800"/>
            <a:ext cx="8412480" cy="640080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114800"/>
            <a:ext cx="64008" cy="6400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418795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A56DB"/>
                </a:solidFill>
              </a:rPr>
              <a:t>LEARNING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508760" y="420624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Structured output format enforcement in the system prompt is more reliable than post-processing regex. Getting the prompt right saved debugging time later.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10 /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Where this goes next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651760" cy="1463040"/>
          </a:xfrm>
          <a:prstGeom prst="rect">
            <a:avLst/>
          </a:prstGeom>
          <a:solidFill>
            <a:srgbClr val="0A1628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184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6DB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9110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APScheduler integration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31343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Run automatically every morning — no manual trigger needed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37560" y="1508760"/>
            <a:ext cx="2651760" cy="1463040"/>
          </a:xfrm>
          <a:prstGeom prst="rect">
            <a:avLst/>
          </a:prstGeom>
          <a:solidFill>
            <a:srgbClr val="0A1628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6184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6DB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0" y="19110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Streamlit dashboard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231343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Real-time queue view, send/skip controls, stage filter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0" y="1508760"/>
            <a:ext cx="2651760" cy="1463040"/>
          </a:xfrm>
          <a:prstGeom prst="rect">
            <a:avLst/>
          </a:prstGeom>
          <a:solidFill>
            <a:srgbClr val="0A1628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6184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6DB"/>
                </a:solidFill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080" y="19110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Pydantic output validation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55080" y="231343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Retry loop if Claude's output doesn't parse — better reliability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2651760" cy="1463040"/>
          </a:xfrm>
          <a:prstGeom prst="rect">
            <a:avLst/>
          </a:prstGeom>
          <a:solidFill>
            <a:srgbClr val="0A1628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3101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6DB"/>
                </a:solidFill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60273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Local LLM (Llama via Ollama)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400507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Zero API costs, full data privacy — no PII leaves the machine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37560" y="3200400"/>
            <a:ext cx="2651760" cy="1463040"/>
          </a:xfrm>
          <a:prstGeom prst="rect">
            <a:avLst/>
          </a:prstGeom>
          <a:solidFill>
            <a:srgbClr val="0A1628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33101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6DB"/>
                </a:solidFill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74720" y="360273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Google Sheets / CRM sync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74720" y="400507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Pull live invoice data instead of maintaining a CSV manually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17920" y="3200400"/>
            <a:ext cx="2651760" cy="1463040"/>
          </a:xfrm>
          <a:prstGeom prst="rect">
            <a:avLst/>
          </a:prstGeom>
          <a:solidFill>
            <a:srgbClr val="0A1628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33101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6DB"/>
                </a:solidFill>
              </a:rPr>
              <a:t>06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55080" y="360273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LangSmith tracing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55080" y="400507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Observability on every LLM call for debugging and cost tracking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1052</Words>
  <Application>Microsoft Office PowerPoint</Application>
  <PresentationFormat>On-screen Show (16:9)</PresentationFormat>
  <Paragraphs>217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Finance Credit Follow-Up Email Agent</dc:title>
  <dc:subject>PptxGenJS Presentation</dc:subject>
  <dc:creator>Anchita Sharma</dc:creator>
  <cp:lastModifiedBy>ANCHITA SHARMA</cp:lastModifiedBy>
  <cp:revision>2</cp:revision>
  <dcterms:created xsi:type="dcterms:W3CDTF">2026-05-13T17:55:23Z</dcterms:created>
  <dcterms:modified xsi:type="dcterms:W3CDTF">2026-05-13T18:11:11Z</dcterms:modified>
</cp:coreProperties>
</file>